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BDC P/NAV: Actual vs Model-Fitted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ADCFC"/>
                </a:solidFill>
                <a:latin typeface="Consolas"/>
              </a:rPr>
              <a:t>P/NAV ~ 2Y Treasury + NII/sh + FV/Cost + Debt/NAV + Name FE  |  N=7,591  |  R²=77.2%  |  Daily panel, Q2'21 - Mar'26</a:t>
            </a:r>
          </a:p>
        </p:txBody>
      </p:sp>
      <p:pic>
        <p:nvPicPr>
          <p:cNvPr id="5" name="Picture 4" descr="bdc_actual_vs_f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74" y="1051560"/>
            <a:ext cx="10701745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Red shading = below model fair value  |  Green shading = above  |  Annotation = current residual (pp)  |  Source: S&amp;P Capital IQ, SEC EDGAR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